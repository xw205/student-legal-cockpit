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风险占比(示例)</c:v>
                </c:pt>
              </c:strCache>
            </c:strRef>
          </c:tx>
          <c:dPt>
            <c:idx val="0"/>
            <c:spPr>
              <a:solidFill>
                <a:srgbClr val="1E508F"/>
              </a:solidFill>
            </c:spPr>
          </c:dPt>
          <c:dPt>
            <c:idx val="1"/>
            <c:spPr>
              <a:solidFill>
                <a:srgbClr val="00A8E8"/>
              </a:solidFill>
            </c:spPr>
          </c:dPt>
          <c:dPt>
            <c:idx val="2"/>
            <c:spPr>
              <a:solidFill>
                <a:srgbClr val="F5B842"/>
              </a:solidFill>
            </c:spPr>
          </c:dPt>
          <c:cat>
            <c:strRef>
              <c:f>Sheet1!$A$2:$A$4</c:f>
              <c:strCache>
                <c:ptCount val="3"/>
                <c:pt idx="0">
                  <c:v>租房风险</c:v>
                </c:pt>
                <c:pt idx="1">
                  <c:v>兼职风险</c:v>
                </c:pt>
                <c:pt idx="2">
                  <c:v>就业风险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25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050"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实践前（掌握度）</c:v>
                </c:pt>
              </c:strCache>
            </c:strRef>
          </c:tx>
          <c:spPr>
            <a:solidFill>
              <a:srgbClr val="AFC3DC"/>
            </a:solidFill>
          </c:spPr>
          <c:cat>
            <c:strRef>
              <c:f>Sheet1!$A$2:$A$4</c:f>
              <c:strCache>
                <c:ptCount val="3"/>
                <c:pt idx="0">
                  <c:v>风险识别能力</c:v>
                </c:pt>
                <c:pt idx="1">
                  <c:v>证据留存意识</c:v>
                </c:pt>
                <c:pt idx="2">
                  <c:v>维权路径认知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26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实践后（掌握度）</c:v>
                </c:pt>
              </c:strCache>
            </c:strRef>
          </c:tx>
          <c:spPr>
            <a:solidFill>
              <a:srgbClr val="0B7AB8"/>
            </a:solidFill>
          </c:spPr>
          <c:cat>
            <c:strRef>
              <c:f>Sheet1!$A$2:$A$4</c:f>
              <c:strCache>
                <c:ptCount val="3"/>
                <c:pt idx="0">
                  <c:v>风险识别能力</c:v>
                </c:pt>
                <c:pt idx="1">
                  <c:v>证据留存意识</c:v>
                </c:pt>
                <c:pt idx="2">
                  <c:v>维权路径认知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</c:v>
                </c:pt>
                <c:pt idx="1">
                  <c:v>88</c:v>
                </c:pt>
                <c:pt idx="2">
                  <c:v>82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50">
          <a:latin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各位评委老师好！我们是来自云南大学的大学生新文科创新实践团队，项目名称是“法护启航——AI赋能大学生全周期法律风险防护实践”。我们聚焦呈贡大学城大学生在租住、兼职与就业中最常遇到的法律风险，用“AI+行动导航”的方式，帮大学生从“不知道、不会做”走向“敢维权、会维权”。下面我将从问题发现、实践调研、解决方案与成果四部分进行汇报。</a:t>
            </a:r>
          </a:p>
          <a:p>
            <a:r>
              <a:t>【配图建议】可在此页右侧/底部放置 1) 呈贡大学城高校群实拍或航拍图 2) 团队实践合影 3) 云南大学校门/会泽院照片（作为半透明压底图，勿遮挡标题文字）。</a:t>
            </a:r>
          </a:p>
          <a:p>
            <a:r>
              <a:t>【修改提醒】封面中“答辩团队/指导老师/汇报人/日期”均为【XXX】占位，请替换为真实信息；校徽为独立图片，可右键“更改图片”替换为官方高清版。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大学生第一次走向社会，往往也是第一次面对复杂的法律关系：第一次租房、第一次兼职、第一次就业。调研中我们发现，大家普遍处于一种“双不知道”的状态——不知道风险在哪里，也不知道发生之后该怎么办。这三个场景，正是我们整个项目的问题原点。</a:t>
            </a:r>
          </a:p>
          <a:p>
            <a:r>
              <a:t>【配图建议】1) 大学生拖着行李箱看房/签合同 2) 学生兼职打工 3) 招聘会/面试场景照片，或对应插画，放在三张场景卡片内或卡片上方。</a:t>
            </a:r>
          </a:p>
          <a:p>
            <a:r>
              <a:t>【修改提醒】三张卡片下的说明文字可按实际调研补充具体案例；卡片图片可直接替换为实拍图。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这是我们的“问题地图”——把大学生高频法律风险拆到三个场景：租房里的押金、合同与证据留存；兼职里的欠薪、虚假招聘与诈骗；就业里的试用期、劳动合同与无故辞退。我们在调研中还发现一个共性问题：【XXX】。这些问题看着小，但对没有社会经验的大学生来说，轻则损失金钱，重则影响学业与征信。</a:t>
            </a:r>
          </a:p>
          <a:p>
            <a:r>
              <a:t>【配图建议】整页为“数据大屏”风格，可替换为真实后台大屏截图；每个板块右侧可放对应场景实拍图；底部“我们的调研发现”处建议配 1 张团队走访/访谈的现场照片作为图注。</a:t>
            </a:r>
          </a:p>
          <a:p>
            <a:r>
              <a:t>【修改提醒】请把底部“【XXX】”替换为最有冲击力的一句调研结论（如“约X成受访学生遭遇过押金不退”）；板块内风险点文字均可自由增删。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为了确保问题真实，我们设计了全链条调研路线：从呈贡大学城出发，走进高校和学生，再延伸到房东、企业、社区、司法所和法律援助社团，共覆盖【XXX】类对象。调研手段包括问卷调查、深度访谈、案例访谈、实地走访与专业咨询；累计实践时间【XXX】、开展【XXX】次、访问【XXX】人、走访【XXX】处场所。评委老师重点看的，正是这条“问题从现场来”的完整证据链。</a:t>
            </a:r>
          </a:p>
          <a:p>
            <a:r>
              <a:t>【配图建议】1) 调研路线地图/呈贡大学城地图标注图 2) 团队在社区/司法所走访的照片拼图 3) 问卷二维码与回收现场照片 4) 访谈记录/案例卷宗特写。</a:t>
            </a:r>
          </a:p>
          <a:p>
            <a:r>
              <a:t>【修改提醒】四个统计卡与口述中的【XXX】请填真实数据；流向图中的对象可增删；走访照片建议统一尺寸放在本页底部或替换右侧说明区域。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本次调研共回收有效问卷【XXX】份，深度访谈【XXX】人，实地走访【XXX】次，收集真实案例【XXX】件。从风险分布看，租房、兼职、就业三大场景的占比分别为【XXX】%、【XXX】%和【XXX】%——数据说明风险并非个例，而是呈贡大学城大学生群体中的普遍痛点。</a:t>
            </a:r>
          </a:p>
          <a:p>
            <a:r>
              <a:t>【配图建议】1) 问卷发放/填写现场照片 2) 调研数据实时统计大屏截图 3) 词云图（押金/欠薪/试用期等高频词）。</a:t>
            </a:r>
          </a:p>
          <a:p>
            <a:r>
              <a:t>【修改提醒】左侧数字与右侧三条【XXX】% 为文字占位请填写；饼图是 PowerPoint 原生图表——双击饼图 → “编辑数据” 即可改数值和类别，颜色也可在图表工具中修改。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我们把痛点归纳为层层递进的三层：第一层“看不懂”，法条专业晦涩；第二层“不知道”，识别不了潜藏在合同与招聘里的风险；第三层“不会做”，出了事不知道如何留存证据、走什么维权路径。三层叠加，结论就是——大学生并不缺“法律知识”，缺的是把知识变成行动的能力。</a:t>
            </a:r>
          </a:p>
          <a:p>
            <a:r>
              <a:t>【配图建议】1) 学生看复杂合同条文/皱眉表情照片 2) 聊天记录/欠薪通知截图（脱敏）3) 维权求助场景插画；也可用三张递进箭头插画。</a:t>
            </a:r>
          </a:p>
          <a:p>
            <a:r>
              <a:t>【修改提醒】三层痛点的子描述可按调研补充具体案例；右侧大段区域可放1张“痛点数据”或实拍图，若放入图片请把文字框整体下移/缩小。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【答辩口述】我们的解决方案是一条完整链路：风险测评摸清底数 → 风险识别定位问题 → AI预警及时提醒 → 证据留存教会取证 → 维权导航给出行动路线 → 专业转介对接司法所与法律援助 → 问题反馈再回流反哺模型。它的核心不是“讲法律”，而是把法律知识翻译成大学生看得懂、做得出的行动步骤。</a:t>
            </a:r>
          </a:p>
          <a:p>
            <a:r>
              <a:t>【配图建议】1) 产品全流程操作录屏/界面走查图 2) 用户从“提问”到“拿到文书”的路径截图 3) 流程图风格插画。</a:t>
            </a:r>
          </a:p>
          <a:p>
            <a:r>
              <a:t>【修改提醒】七个环节的名称与子描述可据产品现状修改；“一句话定位”建议改为更有记忆点的Slogan。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产品分三层：最上层是五大功能模块——AI风险测评、AI合同审查、AI法律行动助手、证据急救、法律服务地图；中间是AI能力底座，由法律大模型、本地化知识库和大学生案例数据库支撑；最下层是多方协同服务网络，对接高校、社区、司法所和法律援助机构。这样设计的逻辑是：AI负责把专业问题讲清楚、给方案，人来负责把方案落地，确保安全与可信。</a:t>
            </a:r>
          </a:p>
          <a:p>
            <a:r>
              <a:t>【配图建议】1) 系统功能架构图高保真版 2) 五大功能入口截图平铺 3) 后台知识库/案例库界面截图。</a:t>
            </a:r>
          </a:p>
          <a:p>
            <a:r>
              <a:t>【修改提醒】模块名称与描述按产品迭代更新；若新增模块请保持5列版式，注意文字勿超出卡片。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这是我们最想现场演示的爆点功能。左侧是合同上传入口，支持PDF、Word和图片；右侧是AI生成的风险报告——上传一份模拟租房合同后，系统给出综合风险得分与高中低风险数量，并逐条列出风险条款、风险原因、修改建议和法律依据。现场可上传真实合同做演示，形成强记忆点。</a:t>
            </a:r>
          </a:p>
          <a:p>
            <a:r>
              <a:t>【配图建议】1) 网页端合同上传与报告页完整截图（1920×1080）放于底部占位框 2) 手机端演示录屏片段 3) 风险条款高亮标注对比图。</a:t>
            </a:r>
          </a:p>
          <a:p>
            <a:r>
              <a:t>【修改提醒】右侧所有示例数据（得分72、0/3/5、条款与依据）均为占位，请替换为演示系统的真实输出；底部占位框内为独立图片，右键可“更改图片”。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以“房东扣2000元押金”为例：普通AI只会给你一段通用法条；法护启航则会走完整执行链路——先判断风险性质，再告诉你第一步固定哪些证据，然后给出调解、投诉、诉讼分级路径，最后直接生成《押金退还律师函》草稿。这正是我们区别于普通AI闲聊问答的关键：我们不生产“正确的废话”，我们输出“可执行的行动”。</a:t>
            </a:r>
          </a:p>
          <a:p>
            <a:r>
              <a:t>【配图建议】1) 对话式产品界面录屏（用户提问→四步引导→文书生成）2) 生成的法律文书PDF样张（脱敏）3) 微信/网页端交互截图。</a:t>
            </a:r>
          </a:p>
          <a:p>
            <a:r>
              <a:t>【修改提醒】示例提问与AI回复文案可替换为其他高频问题（如兼职欠薪、试用期辞退）；执行链路四步文案可按产品实际交互调整。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我们的创新点可以概括为四个“不一样”：一是画像不一样——针对呈贡大学城学生做本地化场景化风险画像；二是服务不一样——把AI问答升级为AI维权行动导航；三是防护不一样——把证据留存意识前置到风险发生之前；四是机制不一样——搭建AI+高校+社区+司法所+法律援助的多方协同机制。</a:t>
            </a:r>
          </a:p>
          <a:p>
            <a:r>
              <a:t>【配图建议】1) 风险画像词云/雷达图 2) 产品“问答→行动”对比截图 3) 多方协同机制示意图（可用图标组合）。</a:t>
            </a:r>
          </a:p>
          <a:p>
            <a:r>
              <a:t>【修改提醒】四点标题与描述可压缩为更口语化的短句；如需强调某一点可加大字号或换色。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目前我们已经产出了八项可展示的实践成果：网站交互原型、AI合同审查Demo、AI法律问答引擎、风险测评模型、大学生法律案例数据库、法律服务地图、调研数据库，以及法律咨询对外合作机制。每一项都可以现场打开演示，真正做到成果“看得见、点得动”。</a:t>
            </a:r>
          </a:p>
          <a:p>
            <a:r>
              <a:t>【配图建议】1) 每个成果对应的界面截图小图（可放入对应卡片）2) 团队开发/测试工作照 3) 数据库与后台页面截图。</a:t>
            </a:r>
          </a:p>
          <a:p>
            <a:r>
              <a:t>【修改提醒】八项成果均为已完成项；若某项尚未完成建议改为“进行中”标签，切勿在答辩中被追问时无法演示。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我们用同一套问卷在实践前后做了对比测试：实践前，不知道风险、不知道证据留存、不了解维权渠道的比例分别是【XXX】%、【XXX】%和【XXX】%；经过测评、宣讲与工具试用，风险识别能力、证据留存意识、维权路径认知分别提升了【XXX】%、【XXX】%和【XXX】%。右侧柱状图直观显示：掌握度从两成上下提升到八成以上。效果是看得见的。</a:t>
            </a:r>
          </a:p>
          <a:p>
            <a:r>
              <a:t>【配图建议】1) 前后测问卷对比截图 2) 试点高校宣讲/工作坊现场照片 3) 用研后台的答题正确率趋势图。</a:t>
            </a:r>
          </a:p>
          <a:p>
            <a:r>
              <a:t>【修改提醒】左侧六处【XXX】% 与右侧柱状图数值均为占位；柱状图是 PowerPoint 原生图表，双击后选“编辑数据”即可替换为实测数据并自动更新图形。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推广按四阶段推进：第一阶段在呈贡大学城试点打磨、跑通闭环；第二阶段扩展到昆明市内高校；第三阶段覆盖云南省全部高校，并按各地法律资源做本地化配置；第四阶段面向全国高校输出模式。因为平台本身支持本地法规、机构与案例库的配置，所以复制到其他城市成本很低。</a:t>
            </a:r>
          </a:p>
          <a:p>
            <a:r>
              <a:t>【配图建议】1) 云南/呈贡→昆明→全省→全国的地图扩散动效截图 2) 已对接高校/机构清单表格 3) 平台后台“城市配置”界面截图。</a:t>
            </a:r>
          </a:p>
          <a:p>
            <a:r>
              <a:t>【修改提醒】各阶段时间与目标可补充里程碑（如“2026年内完成第二阶段”）；地图类图片若加入请勿遮挡文字。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【答辩口述】最后用一句话总结我们的初心：让AI懂法律，更让大学生懂得保护自己。感谢各位评委老师的聆听，恳请批评指正！</a:t>
            </a:r>
          </a:p>
          <a:p>
            <a:r>
              <a:t>【配图建议】背景可放 1 张半透明压底的呈贡大学城/云大会泽院照片，或团队集体照剪影；也可在右下角放项目二维码便于评委扫码体验 Demo。</a:t>
            </a:r>
          </a:p>
          <a:p>
            <a:r>
              <a:t>【修改提醒】页脚团队名称中的【XXX】请替换为真实团队名；如需增加联系方式/二维码，请在右下角空白处插入独立图片。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43A6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4206240"/>
            <a:ext cx="2834640" cy="2834640"/>
          </a:xfrm>
          <a:prstGeom prst="ellipse">
            <a:avLst/>
          </a:prstGeom>
          <a:solidFill>
            <a:srgbClr val="00A8E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937760"/>
            <a:ext cx="3108960" cy="3108960"/>
          </a:xfrm>
          <a:prstGeom prst="ellipse">
            <a:avLst/>
          </a:prstGeom>
          <a:solidFill>
            <a:srgbClr val="1E508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365760"/>
            <a:ext cx="713232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" y="419252"/>
            <a:ext cx="606247" cy="6062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475488"/>
            <a:ext cx="3611880" cy="475488"/>
          </a:xfrm>
          <a:prstGeom prst="roundRect">
            <a:avLst>
              <a:gd name="adj" fmla="val 50000"/>
            </a:avLst>
          </a:prstGeom>
          <a:solidFill>
            <a:srgbClr val="143A6B">
              <a:alpha val="60000"/>
            </a:srgbClr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大学生新文科创新实践大赛  ·  答辩展示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法护启航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2798064"/>
            <a:ext cx="1005840" cy="6400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ED0F0"/>
                </a:solidFill>
                <a:latin typeface="微软雅黑"/>
                <a:ea typeface="微软雅黑"/>
                <a:cs typeface="微软雅黑"/>
              </a:rPr>
              <a:t>FAHU QIHANG  ·  AI Legal Guard for College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44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AI赋能大学生全周期法律风险防护实践</a:t>
            </a:r>
          </a:p>
          <a:p>
            <a:pPr algn="l"/>
            <a:r>
              <a:rPr sz="1500" b="0" i="0">
                <a:solidFill>
                  <a:srgbClr val="CFE0F5"/>
                </a:solidFill>
                <a:latin typeface="微软雅黑"/>
                <a:ea typeface="微软雅黑"/>
                <a:cs typeface="微软雅黑"/>
              </a:rPr>
              <a:t>——基于呈贡大学城大学生租住、兼职与就业场景的调查与实践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42432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143A6B">
              <a:alpha val="70000"/>
            </a:srgbClr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0" i="0">
                <a:solidFill>
                  <a:srgbClr val="9ED0F0"/>
                </a:solidFill>
                <a:latin typeface="微软雅黑"/>
                <a:ea typeface="微软雅黑"/>
                <a:cs typeface="微软雅黑"/>
              </a:rPr>
              <a:t>答辩团队：</a:t>
            </a: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【XXX】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742432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143A6B">
              <a:alpha val="70000"/>
            </a:srgbClr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0" i="0">
                <a:solidFill>
                  <a:srgbClr val="9ED0F0"/>
                </a:solidFill>
                <a:latin typeface="微软雅黑"/>
                <a:ea typeface="微软雅黑"/>
                <a:cs typeface="微软雅黑"/>
              </a:rPr>
              <a:t>学校：</a:t>
            </a: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云南大学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5742432"/>
            <a:ext cx="3017520" cy="658368"/>
          </a:xfrm>
          <a:prstGeom prst="roundRect">
            <a:avLst>
              <a:gd name="adj" fmla="val 22000"/>
            </a:avLst>
          </a:prstGeom>
          <a:solidFill>
            <a:srgbClr val="143A6B">
              <a:alpha val="70000"/>
            </a:srgbClr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0" i="0">
                <a:solidFill>
                  <a:srgbClr val="9ED0F0"/>
                </a:solidFill>
                <a:latin typeface="微软雅黑"/>
                <a:ea typeface="微软雅黑"/>
                <a:cs typeface="微软雅黑"/>
              </a:rPr>
              <a:t>指导老师：</a:t>
            </a: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【XXX】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47104"/>
            <a:ext cx="12198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EB4D0"/>
                </a:solidFill>
                <a:latin typeface="微软雅黑"/>
                <a:ea typeface="微软雅黑"/>
                <a:cs typeface="微软雅黑"/>
              </a:rPr>
              <a:t>汇报人：【XXX】    ·    汇报日期：2026年【XX】月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01 · 场景聚焦：大学生第一次走向社会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问题引入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02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10012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大学生第一次走向社会，往往也是第一次面对复杂的法律关系。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7" y="2212848"/>
            <a:ext cx="3154680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2707" y="2212848"/>
            <a:ext cx="3154680" cy="82296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5587" y="2596896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🏠  租房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1307" y="358444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第一次签合同、交押金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61103" y="3081528"/>
            <a:ext cx="246888" cy="384048"/>
          </a:xfrm>
          <a:prstGeom prst="rightArrow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1707" y="2212848"/>
            <a:ext cx="3154680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1707" y="2212848"/>
            <a:ext cx="3154680" cy="82296"/>
          </a:xfrm>
          <a:prstGeom prst="roundRect">
            <a:avLst>
              <a:gd name="adj" fmla="val 50000"/>
            </a:avLst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4588" y="2596896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💼  兼职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0307" y="358444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第一次打工、领报酬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690104" y="3081528"/>
            <a:ext cx="246888" cy="384048"/>
          </a:xfrm>
          <a:prstGeom prst="rightArrow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0708" y="2212848"/>
            <a:ext cx="3154680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0708" y="2212848"/>
            <a:ext cx="3154680" cy="822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3588" y="2596896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👔  就业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9308" y="3584448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第一次求职、办入职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2707" y="4892040"/>
            <a:ext cx="10012680" cy="9144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10000"/>
              </a:lnSpc>
            </a:pPr>
            <a:r>
              <a:rPr sz="30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不知道风险在哪里，也不知道发生之后怎么办。</a:t>
            </a:r>
            <a:r>
              <a:rPr sz="30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89320"/>
            <a:ext cx="10012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风险意识薄弱 + 行动能力缺失 —— 这就是我们想解决的问题起点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02 · 真实问题｜数据大屏版式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大学生高频法律风险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03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298448"/>
            <a:ext cx="10561320" cy="4224528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298448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298448"/>
            <a:ext cx="41148" cy="4572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298448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27080" y="1298448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43132" y="1298448"/>
            <a:ext cx="41148" cy="4572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7080" y="1298448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522976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522976"/>
            <a:ext cx="41148" cy="4572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522976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27080" y="5522976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43132" y="5522976"/>
            <a:ext cx="41148" cy="4572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27080" y="5522976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1298448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1298448"/>
            <a:ext cx="41148" cy="4572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27080" y="1298448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84280" y="1298448"/>
            <a:ext cx="41148" cy="4572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522976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065776"/>
            <a:ext cx="41148" cy="4572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27080" y="5522976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384280" y="5065776"/>
            <a:ext cx="41148" cy="4572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■ 大学生高频法律风险监测（调研版）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5727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ED0F0"/>
                </a:solidFill>
                <a:latin typeface="微软雅黑"/>
                <a:ea typeface="微软雅黑"/>
                <a:cs typeface="微软雅黑"/>
              </a:rPr>
              <a:t>覆盖场景：租住 / 兼职 / 就业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2075688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143A6B">
              <a:alpha val="88000"/>
            </a:srgbClr>
          </a:solidFill>
          <a:ln w="12700">
            <a:solidFill>
              <a:srgbClr val="2A5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08760" y="233172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🏠  租房板块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2916936"/>
            <a:ext cx="457200" cy="41148"/>
          </a:xfrm>
          <a:prstGeom prst="rect">
            <a:avLst/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54480" y="3127248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押金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127248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54480" y="3694176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3694176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54480" y="4261104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证据留存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26110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90288" y="2075688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143A6B">
              <a:alpha val="88000"/>
            </a:srgbClr>
          </a:solidFill>
          <a:ln w="12700">
            <a:solidFill>
              <a:srgbClr val="2A5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8" y="233172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💼  兼职板块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608" y="2916936"/>
            <a:ext cx="457200" cy="41148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910328" y="3127248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欠薪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127248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10328" y="3694176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虚假招聘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8" y="3694176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10328" y="4261104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诈骗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93408" y="426110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46136" y="2075688"/>
            <a:ext cx="3154680" cy="2880360"/>
          </a:xfrm>
          <a:prstGeom prst="roundRect">
            <a:avLst>
              <a:gd name="adj" fmla="val 8000"/>
            </a:avLst>
          </a:prstGeom>
          <a:solidFill>
            <a:srgbClr val="143A6B">
              <a:alpha val="88000"/>
            </a:srgbClr>
          </a:solidFill>
          <a:ln w="12700">
            <a:solidFill>
              <a:srgbClr val="2A5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0456" y="233172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👔  就业板块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0456" y="2916936"/>
            <a:ext cx="457200" cy="41148"/>
          </a:xfrm>
          <a:prstGeom prst="rect">
            <a:avLst/>
          </a:prstGeom>
          <a:solidFill>
            <a:srgbClr val="F5B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66176" y="3127248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试用期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49256" y="3127248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66176" y="3694176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劳动合同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9256" y="3694176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66176" y="4261104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无故辞退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9256" y="4261104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高频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34440" y="4809744"/>
            <a:ext cx="9738360" cy="512064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50" b="1" i="0">
                <a:solidFill>
                  <a:srgbClr val="9ED0F0"/>
                </a:solidFill>
                <a:latin typeface="微软雅黑"/>
                <a:ea typeface="微软雅黑"/>
                <a:cs typeface="微软雅黑"/>
              </a:rPr>
              <a:t>我们的调研发现：</a:t>
            </a:r>
            <a:r>
              <a:rPr sz="17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050" b="0" i="0">
                <a:solidFill>
                  <a:srgbClr val="9EB4D0"/>
                </a:solidFill>
                <a:latin typeface="微软雅黑"/>
                <a:ea typeface="微软雅黑"/>
                <a:cs typeface="微软雅黑"/>
              </a:rPr>
              <a:t>（此处填写最有力的调研结论）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03 · 实践调研路线（评委重点打分项）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我们如何发现问题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38404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DF3DF"/>
          </a:solidFill>
          <a:ln w="9525">
            <a:solidFill>
              <a:srgbClr val="F5B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★ 重点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10927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15361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调研对象流向图（全链条）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29967"/>
            <a:ext cx="1261872" cy="658368"/>
          </a:xfrm>
          <a:prstGeom prst="roundRect">
            <a:avLst>
              <a:gd name="adj" fmla="val 2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呈贡大学城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92223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32380" y="2295144"/>
            <a:ext cx="64008" cy="128016"/>
          </a:xfrm>
          <a:prstGeom prst="right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9132" y="2029967"/>
            <a:ext cx="1261872" cy="658368"/>
          </a:xfrm>
          <a:prstGeom prst="roundRect">
            <a:avLst>
              <a:gd name="adj" fmla="val 2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0844" y="1792223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Right Arrow 15"/>
          <p:cNvSpPr/>
          <p:nvPr/>
        </p:nvSpPr>
        <p:spPr>
          <a:xfrm>
            <a:off x="3462832" y="2295144"/>
            <a:ext cx="64008" cy="128016"/>
          </a:xfrm>
          <a:prstGeom prst="right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9583" y="2029967"/>
            <a:ext cx="1261872" cy="658368"/>
          </a:xfrm>
          <a:prstGeom prst="roundRect">
            <a:avLst>
              <a:gd name="adj" fmla="val 2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大学生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5" y="1792223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Right Arrow 18"/>
          <p:cNvSpPr/>
          <p:nvPr/>
        </p:nvSpPr>
        <p:spPr>
          <a:xfrm>
            <a:off x="4793284" y="2295144"/>
            <a:ext cx="64008" cy="128016"/>
          </a:xfrm>
          <a:prstGeom prst="right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60036" y="2029967"/>
            <a:ext cx="1261872" cy="658368"/>
          </a:xfrm>
          <a:prstGeom prst="roundRect">
            <a:avLst>
              <a:gd name="adj" fmla="val 24000"/>
            </a:avLst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房东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1792223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2" name="Right Arrow 21"/>
          <p:cNvSpPr/>
          <p:nvPr/>
        </p:nvSpPr>
        <p:spPr>
          <a:xfrm>
            <a:off x="6123736" y="2295144"/>
            <a:ext cx="64008" cy="128016"/>
          </a:xfrm>
          <a:prstGeom prst="right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0488" y="2029967"/>
            <a:ext cx="1261872" cy="658368"/>
          </a:xfrm>
          <a:prstGeom prst="roundRect">
            <a:avLst>
              <a:gd name="adj" fmla="val 24000"/>
            </a:avLst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792223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5" name="Right Arrow 24"/>
          <p:cNvSpPr/>
          <p:nvPr/>
        </p:nvSpPr>
        <p:spPr>
          <a:xfrm>
            <a:off x="7454188" y="2295144"/>
            <a:ext cx="64008" cy="128016"/>
          </a:xfrm>
          <a:prstGeom prst="right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20940" y="2029967"/>
            <a:ext cx="1261872" cy="658368"/>
          </a:xfrm>
          <a:prstGeom prst="roundRect">
            <a:avLst>
              <a:gd name="adj" fmla="val 24000"/>
            </a:avLst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社区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2652" y="1792223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8" name="Right Arrow 27"/>
          <p:cNvSpPr/>
          <p:nvPr/>
        </p:nvSpPr>
        <p:spPr>
          <a:xfrm>
            <a:off x="8784640" y="2295144"/>
            <a:ext cx="64008" cy="128016"/>
          </a:xfrm>
          <a:prstGeom prst="right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51391" y="2029967"/>
            <a:ext cx="1261872" cy="658368"/>
          </a:xfrm>
          <a:prstGeom prst="roundRect">
            <a:avLst>
              <a:gd name="adj" fmla="val 24000"/>
            </a:avLst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司法所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3" y="1792223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31" name="Right Arrow 30"/>
          <p:cNvSpPr/>
          <p:nvPr/>
        </p:nvSpPr>
        <p:spPr>
          <a:xfrm>
            <a:off x="10115092" y="2295144"/>
            <a:ext cx="64008" cy="128016"/>
          </a:xfrm>
          <a:prstGeom prst="rightArrow">
            <a:avLst/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81843" y="2029967"/>
            <a:ext cx="1261872" cy="658368"/>
          </a:xfrm>
          <a:prstGeom prst="roundRect">
            <a:avLst>
              <a:gd name="adj" fmla="val 24000"/>
            </a:avLst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法律援助社团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3555" y="1792223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24612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调研手段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657600"/>
            <a:ext cx="203911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📋  问卷调查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16352" y="3657600"/>
            <a:ext cx="203911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🎙️  深度访谈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74336" y="3657600"/>
            <a:ext cx="203911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🗂️  案例访谈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3657600"/>
            <a:ext cx="203911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👣  实地走访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90304" y="3657600"/>
            <a:ext cx="203911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⚖️  专业咨询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480560"/>
            <a:ext cx="2596896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626864"/>
            <a:ext cx="45720" cy="9144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462686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实践时间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4919472"/>
            <a:ext cx="2231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 时间段/周期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19856" y="4480560"/>
            <a:ext cx="2596896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19856" y="4626864"/>
            <a:ext cx="45720" cy="9144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21024" y="462686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开展次数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21024" y="4919472"/>
            <a:ext cx="2231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 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4480560"/>
            <a:ext cx="2596896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9632" y="4626864"/>
            <a:ext cx="45720" cy="9144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62686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受访人数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919472"/>
            <a:ext cx="2231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 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79408" y="4480560"/>
            <a:ext cx="2596896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79408" y="4626864"/>
            <a:ext cx="45720" cy="91440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0576" y="4626864"/>
            <a:ext cx="22311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走访场所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4919472"/>
            <a:ext cx="22311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 处/个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路线设计逻辑：</a:t>
            </a:r>
            <a:r>
              <a:rPr sz="12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覆盖“高校—市场—司法—援助”完整链条，让每个风险结论都能找到真实样本支撑，做到“问题从现场来、方案到现场去”。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04 · 让数据说话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调研结果概览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05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48920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459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核心调研数据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调研人数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224028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935224"/>
            <a:ext cx="4251959" cy="10972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26664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深度访谈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3026664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721608"/>
            <a:ext cx="4251959" cy="10972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13048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实地走访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799" y="381304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507992"/>
            <a:ext cx="4251959" cy="10972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599432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收集案例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799" y="4599432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【XXX】</a:t>
            </a: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486400"/>
            <a:ext cx="4251959" cy="10972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62356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数据口径：</a:t>
            </a: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以呈贡大学城在读本硕学生为总体，采用分层抽样与滚雪球方式发放问卷。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141732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184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风险分布 · 三大场景（示意图，双击图表改数据）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583680" y="1920240"/>
          <a:ext cx="420624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Oval 26"/>
          <p:cNvSpPr/>
          <p:nvPr/>
        </p:nvSpPr>
        <p:spPr>
          <a:xfrm>
            <a:off x="6172200" y="4599431"/>
            <a:ext cx="201168" cy="201168"/>
          </a:xfrm>
          <a:prstGeom prst="ellipse">
            <a:avLst/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544568"/>
            <a:ext cx="1508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租房风险占比</a:t>
            </a:r>
          </a:p>
          <a:p>
            <a:pPr algn="l"/>
            <a:r>
              <a:rPr sz="1400" b="1" i="0">
                <a:solidFill>
                  <a:srgbClr val="1E508F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29" name="Oval 28"/>
          <p:cNvSpPr/>
          <p:nvPr/>
        </p:nvSpPr>
        <p:spPr>
          <a:xfrm>
            <a:off x="7955279" y="4599431"/>
            <a:ext cx="201168" cy="201168"/>
          </a:xfrm>
          <a:prstGeom prst="ellipse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544568"/>
            <a:ext cx="1508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兼职风险占比</a:t>
            </a:r>
          </a:p>
          <a:p>
            <a:pPr algn="l"/>
            <a:r>
              <a:rPr sz="1400" b="1" i="0">
                <a:solidFill>
                  <a:srgbClr val="00A8E8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31" name="Oval 30"/>
          <p:cNvSpPr/>
          <p:nvPr/>
        </p:nvSpPr>
        <p:spPr>
          <a:xfrm>
            <a:off x="9738360" y="4599431"/>
            <a:ext cx="201168" cy="201168"/>
          </a:xfrm>
          <a:prstGeom prst="ellipse">
            <a:avLst/>
          </a:prstGeom>
          <a:solidFill>
            <a:srgbClr val="F5B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4544568"/>
            <a:ext cx="1508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就业风险占比</a:t>
            </a:r>
          </a:p>
          <a:p>
            <a:pPr algn="l"/>
            <a:r>
              <a:rPr sz="14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23951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7B8"/>
                </a:solidFill>
                <a:latin typeface="微软雅黑"/>
                <a:ea typeface="微软雅黑"/>
                <a:cs typeface="微软雅黑"/>
              </a:rPr>
              <a:t>※ 图表数值为示意结构，答辩前请双击图表 → “编辑数据”替换为真实占比。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05 · 为什么“懂法”却不会“用法”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痛点分析：三层递进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06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581912"/>
            <a:ext cx="786384" cy="786384"/>
          </a:xfrm>
          <a:prstGeom prst="ellipse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417320"/>
            <a:ext cx="8869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37360" y="1417320"/>
            <a:ext cx="64008" cy="1115568"/>
          </a:xfrm>
          <a:prstGeom prst="rect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4533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看不懂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581912"/>
            <a:ext cx="6675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法律条文专业晦涩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984248"/>
            <a:ext cx="6675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法条、术语、程序……对非专业学生如同“天书”，读不懂自然用不上。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743200" y="2551176"/>
            <a:ext cx="365760" cy="274320"/>
          </a:xfrm>
          <a:prstGeom prst="down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1" y="2971800"/>
            <a:ext cx="786384" cy="786384"/>
          </a:xfrm>
          <a:prstGeom prst="ellipse">
            <a:avLst/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93391" y="2807208"/>
            <a:ext cx="8869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93391" y="2807208"/>
            <a:ext cx="64008" cy="1115568"/>
          </a:xfrm>
          <a:prstGeom prst="rect">
            <a:avLst/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293522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不知道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2971800"/>
            <a:ext cx="6675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E6FC6"/>
                </a:solidFill>
                <a:latin typeface="微软雅黑"/>
                <a:ea typeface="微软雅黑"/>
                <a:cs typeface="微软雅黑"/>
              </a:rPr>
              <a:t>无法识别潜藏风险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912" y="3374136"/>
            <a:ext cx="6675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合同条款、招聘话术里藏着风险，学生缺少“风险嗅觉”，签了字才发现问题。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999232" y="3941064"/>
            <a:ext cx="365760" cy="274320"/>
          </a:xfrm>
          <a:prstGeom prst="down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9304" y="4361688"/>
            <a:ext cx="786384" cy="786384"/>
          </a:xfrm>
          <a:prstGeom prst="ellipse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9424" y="4197096"/>
            <a:ext cx="8869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9424" y="4197096"/>
            <a:ext cx="64008" cy="1115568"/>
          </a:xfrm>
          <a:prstGeom prst="rect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432511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不会做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3944" y="4361688"/>
            <a:ext cx="6675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不懂留存证据、不知维权途径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3944" y="4764024"/>
            <a:ext cx="6675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出事之后不知道先做什么：不会固定证据、不清楚找谁、不知道怎么写材料。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5650992"/>
            <a:ext cx="9829800" cy="713232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核心结论：</a:t>
            </a: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“法律知识”没有真正转化为“法律行动”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06 · 项目解决方案：全周期防护闭环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从“法律知识”到“法律行动”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07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984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用户带着问题进来：</a:t>
            </a:r>
            <a:r>
              <a:rPr sz="13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“我遇到风险了，该怎么办？”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2984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带着行动方案离开：</a:t>
            </a:r>
            <a:r>
              <a:rPr sz="13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“我知道先做什么、找谁、怎么维权”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011680"/>
            <a:ext cx="254203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4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01168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2231136"/>
            <a:ext cx="457200" cy="457200"/>
          </a:xfrm>
          <a:prstGeom prst="ellipse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139696"/>
            <a:ext cx="167335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风险测评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542032"/>
            <a:ext cx="16733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先摸清风险底数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78123" y="2340864"/>
            <a:ext cx="155448" cy="274320"/>
          </a:xfrm>
          <a:prstGeom prst="right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6432" y="2011680"/>
            <a:ext cx="254203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E5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56432" y="201168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21024" y="2231136"/>
            <a:ext cx="457200" cy="457200"/>
          </a:xfrm>
          <a:prstGeom prst="ellipse">
            <a:avLst/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2139696"/>
            <a:ext cx="167335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风险识别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2542032"/>
            <a:ext cx="16733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定位具体风险点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21324" y="2340864"/>
            <a:ext cx="155448" cy="274320"/>
          </a:xfrm>
          <a:prstGeom prst="right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9632" y="2011680"/>
            <a:ext cx="254203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E6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9632" y="201168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2231136"/>
            <a:ext cx="457200" cy="457200"/>
          </a:xfrm>
          <a:prstGeom prst="ellipse">
            <a:avLst/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139696"/>
            <a:ext cx="167335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AI预警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2542032"/>
            <a:ext cx="16733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风险出现即提醒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64524" y="2340864"/>
            <a:ext cx="155448" cy="274320"/>
          </a:xfrm>
          <a:prstGeom prst="right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42832" y="2011680"/>
            <a:ext cx="254203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42832" y="201168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07424" y="2231136"/>
            <a:ext cx="457200" cy="457200"/>
          </a:xfrm>
          <a:prstGeom prst="ellipse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2139696"/>
            <a:ext cx="167335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证据留存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2542032"/>
            <a:ext cx="16733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教会你保存证据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566160"/>
            <a:ext cx="254203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5B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99632" y="356616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F5B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64224" y="3785615"/>
            <a:ext cx="457200" cy="457200"/>
          </a:xfrm>
          <a:prstGeom prst="ellipse">
            <a:avLst/>
          </a:prstGeom>
          <a:solidFill>
            <a:srgbClr val="F5B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3694176"/>
            <a:ext cx="167335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问题反馈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4096511"/>
            <a:ext cx="16733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回流反哺模型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56432" y="3566160"/>
            <a:ext cx="254203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EB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56432" y="356616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2E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21024" y="3785615"/>
            <a:ext cx="457200" cy="457200"/>
          </a:xfrm>
          <a:prstGeom prst="ellipse">
            <a:avLst/>
          </a:prstGeom>
          <a:solidFill>
            <a:srgbClr val="2E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87952" y="3694176"/>
            <a:ext cx="167335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专业转介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7952" y="4096511"/>
            <a:ext cx="16733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对接专业力量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" y="3566160"/>
            <a:ext cx="2542032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0E8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3232" y="356616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7824" y="3785615"/>
            <a:ext cx="457200" cy="457200"/>
          </a:xfrm>
          <a:prstGeom prst="ellipse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4752" y="3694176"/>
            <a:ext cx="167335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维权导航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4752" y="4096511"/>
            <a:ext cx="16733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给出行动路线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10067544" y="2944368"/>
            <a:ext cx="292608" cy="621791"/>
          </a:xfrm>
          <a:prstGeom prst="down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47091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↺ 问题反馈回流至“风险测评”，</a:t>
            </a:r>
            <a:r>
              <a:rPr sz="12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持续优化风险画像与预警模型 —— 形成“识别 → 行动 → 反馈 → 再识别”的全周期闭环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5349240"/>
            <a:ext cx="10561320" cy="77724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一句话定位：</a:t>
            </a: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不是给大学生“背法条”，而是给大学生“开行动导航”。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07 · “AI + 服务网络”双层支撑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产品架构：五大功能模块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08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679191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18287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🧭  AI风险测评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答题生成风险画像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2788920"/>
            <a:ext cx="36576" cy="320040"/>
          </a:xfrm>
          <a:prstGeom prst="rect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0088" y="141732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0088" y="2679191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1581912"/>
            <a:ext cx="18287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📄  AI合同审查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194560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合同体检 · 风险报告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788920"/>
            <a:ext cx="36576" cy="320040"/>
          </a:xfrm>
          <a:prstGeom prst="rect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02936" y="141732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02936" y="2679191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1581912"/>
            <a:ext cx="18287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🤖  AI法律行动助手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2194560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问答 + 行动导航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788920"/>
            <a:ext cx="36576" cy="320040"/>
          </a:xfrm>
          <a:prstGeom prst="rect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15783" y="141732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15783" y="2679191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1581912"/>
            <a:ext cx="18287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🧾  证据急救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194560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证据清单与留存指引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49056" y="2788920"/>
            <a:ext cx="36576" cy="320040"/>
          </a:xfrm>
          <a:prstGeom prst="rect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28632" y="141732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28632" y="2679191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1581912"/>
            <a:ext cx="18287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🗺️  法律服务地图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2194560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附近机构一键导航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61904" y="2788920"/>
            <a:ext cx="36576" cy="320040"/>
          </a:xfrm>
          <a:prstGeom prst="rect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3172968"/>
            <a:ext cx="10954512" cy="658368"/>
          </a:xfrm>
          <a:prstGeom prst="roundRect">
            <a:avLst>
              <a:gd name="adj" fmla="val 12000"/>
            </a:avLst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3337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A8E8"/>
                </a:solidFill>
                <a:latin typeface="微软雅黑"/>
                <a:ea typeface="微软雅黑"/>
                <a:cs typeface="微软雅黑"/>
              </a:rPr>
              <a:t>⚙ AI 能力底座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54680" y="3291839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法律大模型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3291839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本地化法律知识库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3291839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大学生案例数据库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133087"/>
            <a:ext cx="1095451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29767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🤝 多方协同服务网络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72968" y="4251959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9525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呈贡大学城高校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46904" y="4251959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9525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社区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20840" y="4251959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9525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司法所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94776" y="4251959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9525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法律援助机构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68712" y="4251959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9525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法律服务平台</a:t>
            </a:r>
          </a:p>
        </p:txBody>
      </p:sp>
      <p:sp>
        <p:nvSpPr>
          <p:cNvPr id="46" name="TextBox 45"/>
          <p:cNvSpPr txBox="1"/>
          <p:nvPr/>
        </p:nvSpPr>
        <p:spPr>
          <a:xfrm rot="16200000">
            <a:off x="109728" y="1965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应用层</a:t>
            </a:r>
          </a:p>
        </p:txBody>
      </p:sp>
      <p:sp>
        <p:nvSpPr>
          <p:cNvPr id="47" name="TextBox 46"/>
          <p:cNvSpPr txBox="1"/>
          <p:nvPr/>
        </p:nvSpPr>
        <p:spPr>
          <a:xfrm rot="16200000">
            <a:off x="109728" y="3364991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AI引擎层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109728" y="43251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协同服务层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04748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架构说明：</a:t>
            </a:r>
            <a:r>
              <a:rPr sz="115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五大功能模块面向学生前台；AI能力底座提供“法律大模型 + 本地化知识库 + 案例库”的智力支撑；底层对接高校、社区、司法所与法律援助，保证“AI给方案、人来兜底”。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08 · 答辩爆点页面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AI合同审查 · 功能演示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38404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DF3DF"/>
          </a:solidFill>
          <a:ln w="9525">
            <a:solidFill>
              <a:srgbClr val="F5B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⚡ 爆点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298448"/>
            <a:ext cx="51206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48132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① 合同上传（界面示意）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956815"/>
            <a:ext cx="4572000" cy="178308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1284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0">
                <a:solidFill>
                  <a:srgbClr val="00A8E8"/>
                </a:solidFill>
                <a:latin typeface="微软雅黑"/>
                <a:ea typeface="微软雅黑"/>
                <a:cs typeface="微软雅黑"/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拖拽或点击上传合同文件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815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支持多页合同智能解析，快速输出风险报告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358444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9525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58444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9525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58444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9525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图片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416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💡 演示建议：现场上传 1 份真实租房合同（脱敏）制造记忆点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298448"/>
            <a:ext cx="53492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80760" y="1298448"/>
            <a:ext cx="534924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898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AI 风险审查报告 · 模拟案例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13898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DF3DF"/>
          </a:solidFill>
          <a:ln w="6350">
            <a:solidFill>
              <a:srgbClr val="F5B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中风险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865376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综合风险得分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031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4B4B"/>
                </a:solidFill>
                <a:latin typeface="微软雅黑"/>
                <a:ea typeface="微软雅黑"/>
                <a:cs typeface="微软雅黑"/>
              </a:rPr>
              <a:t>72</a:t>
            </a: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  / 100（示例）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1911095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F2F5F9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1975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高风险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21762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04B4B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6608" y="1911095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F2F5F9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8048" y="1975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中风险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1762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0736" y="1911095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F2F5F9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52176" y="1975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低风险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21762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615184"/>
            <a:ext cx="1051560" cy="402336"/>
          </a:xfrm>
          <a:prstGeom prst="roundRect">
            <a:avLst>
              <a:gd name="adj" fmla="val 24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26791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风险条款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088" y="2651760"/>
            <a:ext cx="35661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押金退还条款、违约金条款、合同解除条款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3044952"/>
            <a:ext cx="1051560" cy="402336"/>
          </a:xfrm>
          <a:prstGeom prst="roundRect">
            <a:avLst>
              <a:gd name="adj" fmla="val 24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3108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风险原因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62088" y="3081528"/>
            <a:ext cx="35661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押金数额与退还条件约定不明、单方解除权失衡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3474720"/>
            <a:ext cx="1051560" cy="402336"/>
          </a:xfrm>
          <a:prstGeom prst="roundRect">
            <a:avLst>
              <a:gd name="adj" fmla="val 24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3538727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修改建议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088" y="3511296"/>
            <a:ext cx="35661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明确退还期限与条件、平衡双方违约责任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904487"/>
            <a:ext cx="1051560" cy="402336"/>
          </a:xfrm>
          <a:prstGeom prst="roundRect">
            <a:avLst>
              <a:gd name="adj" fmla="val 24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396849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3A6B"/>
                </a:solidFill>
                <a:latin typeface="微软雅黑"/>
                <a:ea typeface="微软雅黑"/>
                <a:cs typeface="微软雅黑"/>
              </a:rPr>
              <a:t>法律依据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3941063"/>
            <a:ext cx="35661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《民法典》合同编相关条款（示例，以实际为准）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29768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7B8"/>
                </a:solidFill>
                <a:latin typeface="微软雅黑"/>
                <a:ea typeface="微软雅黑"/>
                <a:cs typeface="微软雅黑"/>
              </a:rPr>
              <a:t>※ 以上为模拟案例示意，替换为真实审查演示时请同步更新数据。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4745736"/>
            <a:ext cx="10652760" cy="1234440"/>
          </a:xfrm>
          <a:prstGeom prst="roundRect">
            <a:avLst>
              <a:gd name="adj" fmla="val 6000"/>
            </a:avLst>
          </a:prstGeom>
          <a:solidFill>
            <a:srgbClr val="FAFCFE"/>
          </a:solidFill>
          <a:ln w="13970">
            <a:solidFill>
              <a:srgbClr val="AFC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4910327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🖼 网页截图占位框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248655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此处建议替换为 AI 合同审查系统真实页面截图（推荐 1920×1080 或 16:9 大图，独立图片对象，可随时更换）。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08 · 功能演示｜AI法律行动助手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AI 维权助手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28016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54864" tIns="18288" bIns="18288"/>
          <a:lstStyle/>
          <a:p>
            <a:pPr algn="l"/>
            <a:r>
              <a:rPr sz="1250" b="1" i="0">
                <a:solidFill>
                  <a:srgbClr val="9ED0F0"/>
                </a:solidFill>
                <a:latin typeface="微软雅黑"/>
                <a:ea typeface="微软雅黑"/>
                <a:cs typeface="微软雅黑"/>
              </a:rPr>
              <a:t>🙋 用户提问：</a:t>
            </a: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“房东扣我 2000 元押金不退，怎么办？”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103784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48839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🤖 法护启航：</a:t>
            </a:r>
            <a:r>
              <a:rPr sz="13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别慌，按这 4 步走：① 先固定证据（租赁合同、押金收据、转账记录、沟通记录）→ ② 判断违约与管辖 → ③ 先发书面催告，再走社区/司法所调解 → ④ 需要时生成《押金退还律师函》草稿。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执行链路：从“问答”到“行动”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86200"/>
            <a:ext cx="248716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14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886200"/>
            <a:ext cx="91440" cy="786384"/>
          </a:xfrm>
          <a:prstGeom prst="rect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005072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STEP 1  风险判断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先定性、别踩坑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12540" y="4169663"/>
            <a:ext cx="105156" cy="219456"/>
          </a:xfrm>
          <a:prstGeom prst="right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9584" y="3886200"/>
            <a:ext cx="248716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1E5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9584" y="3886200"/>
            <a:ext cx="91440" cy="786384"/>
          </a:xfrm>
          <a:prstGeom prst="rect">
            <a:avLst/>
          </a:prstGeom>
          <a:solidFill>
            <a:srgbClr val="1E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58184" y="4005072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STEP 2  证据清单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4" y="4343400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教你先固定证据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27724" y="4169663"/>
            <a:ext cx="105156" cy="219456"/>
          </a:xfrm>
          <a:prstGeom prst="right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44768" y="3886200"/>
            <a:ext cx="248716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2E6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886200"/>
            <a:ext cx="91440" cy="786384"/>
          </a:xfrm>
          <a:prstGeom prst="rect">
            <a:avLst/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005072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STEP 3  维权路径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343400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调解/投诉/诉讼分级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642908" y="4169663"/>
            <a:ext cx="105156" cy="219456"/>
          </a:xfrm>
          <a:prstGeom prst="rightArrow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59952" y="3886200"/>
            <a:ext cx="248716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0B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59952" y="3886200"/>
            <a:ext cx="91440" cy="786384"/>
          </a:xfrm>
          <a:prstGeom prst="rect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4005072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STEP 4  法律文书生成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4343400"/>
            <a:ext cx="21214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一键生成文书草稿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084064"/>
            <a:ext cx="5120640" cy="960120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 w="12700">
            <a:solidFill>
              <a:srgbClr val="E8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2303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04B4B"/>
                </a:solidFill>
                <a:latin typeface="微软雅黑"/>
                <a:ea typeface="微软雅黑"/>
                <a:cs typeface="微软雅黑"/>
              </a:rPr>
              <a:t>❌ 普通 AI 闲聊问答：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只给一段“通用法律建议”，说完了，你还是不知道下一步做什么。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084064"/>
            <a:ext cx="5074920" cy="960120"/>
          </a:xfrm>
          <a:prstGeom prst="roundRect">
            <a:avLst>
              <a:gd name="adj" fmla="val 10000"/>
            </a:avLst>
          </a:prstGeom>
          <a:solidFill>
            <a:srgbClr val="E7F6F0"/>
          </a:solidFill>
          <a:ln w="12700">
            <a:solidFill>
              <a:srgbClr val="9F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2303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E8A60"/>
                </a:solidFill>
                <a:latin typeface="微软雅黑"/>
                <a:ea typeface="微软雅黑"/>
                <a:cs typeface="微软雅黑"/>
              </a:rPr>
              <a:t>✅ 法护启航 AI 维权助手：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判断风险 → 给证据清单 → 给维权路径 → 生成法律文书，把“建议”变成“行动”。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25449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核心差异：</a:t>
            </a:r>
            <a:r>
              <a:rPr sz="1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普通 AI 只回答“法律是什么”；法护启航回答“你现在该怎么做”。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09 · 四个“不一样”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项目创新点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41732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2415" y="1691640"/>
            <a:ext cx="658368" cy="658368"/>
          </a:xfrm>
          <a:prstGeom prst="ellipse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728216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本地化 · 场景化风险画像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560320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针对呈贡大学城大学生，结合本地租房、兼职与就业真实案例，完成本地化、场景化的法律风险画像，让风险提示“贴得近、说得准”。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1691640"/>
            <a:ext cx="658368" cy="658368"/>
          </a:xfrm>
          <a:prstGeom prst="ellipse">
            <a:avLst/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728216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从“问答”到“行动导航”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将普通 AI 法律问答升级为 AI 维权行动导航服务：不仅告诉“对不对”，更告诉“先做什么、找谁、怎么写”。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94759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" y="4069079"/>
            <a:ext cx="658368" cy="658368"/>
          </a:xfrm>
          <a:prstGeom prst="ellipse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4105655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证据留存前置化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937759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把证据留存意识与“证据急救”工具引入大学生法律防护体系，在风险发生前就教会学生固定证据。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794759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39128" y="4069079"/>
            <a:ext cx="658368" cy="658368"/>
          </a:xfrm>
          <a:prstGeom prst="ellipse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105655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多方协同服务机制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937759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搭建“AI + 高校 + 社区 + 司法所 + 法律援助”多方协同服务机制，实现“AI 给方案、人来兜底”。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10 · 阶段性成果盘点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63040"/>
            <a:ext cx="82296" cy="1572768"/>
          </a:xfrm>
          <a:prstGeom prst="rect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64208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🖥️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2203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☑ </a:t>
            </a: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网站交互原型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4" y="1463040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75304" y="1463040"/>
            <a:ext cx="82296" cy="1572768"/>
          </a:xfrm>
          <a:prstGeom prst="rect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1664208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267712"/>
            <a:ext cx="2203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☑ </a:t>
            </a: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AI合同审查Demo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1463040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1463040"/>
            <a:ext cx="82296" cy="1572768"/>
          </a:xfrm>
          <a:prstGeom prst="rect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1664208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267712"/>
            <a:ext cx="2203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☑ </a:t>
            </a: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AI法律问答引擎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71432" y="1463040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71432" y="1463040"/>
            <a:ext cx="82296" cy="1572768"/>
          </a:xfrm>
          <a:prstGeom prst="rect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1664208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267712"/>
            <a:ext cx="2203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☑ </a:t>
            </a: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风险测评模型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310128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310128"/>
            <a:ext cx="82296" cy="1572768"/>
          </a:xfrm>
          <a:prstGeom prst="rect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51129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114800"/>
            <a:ext cx="2203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☑ </a:t>
            </a: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大学生法律案例数据库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75304" y="3310128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75304" y="3310128"/>
            <a:ext cx="82296" cy="1572768"/>
          </a:xfrm>
          <a:prstGeom prst="rect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3904" y="351129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🗺️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3904" y="4114800"/>
            <a:ext cx="2203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☑ </a:t>
            </a: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法律服务地图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73368" y="3310128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3368" y="3310128"/>
            <a:ext cx="82296" cy="1572768"/>
          </a:xfrm>
          <a:prstGeom prst="rect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51129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🗄️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114800"/>
            <a:ext cx="2203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☑ </a:t>
            </a: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调研数据库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71432" y="3310128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71432" y="3310128"/>
            <a:ext cx="82296" cy="1572768"/>
          </a:xfrm>
          <a:prstGeom prst="rect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351129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4114800"/>
            <a:ext cx="22037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EB87A"/>
                </a:solidFill>
                <a:latin typeface="微软雅黑"/>
                <a:ea typeface="微软雅黑"/>
                <a:cs typeface="微软雅黑"/>
              </a:rPr>
              <a:t>☑ </a:t>
            </a: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法律咨询对外合作机制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以上成果均可在现场演示，并支持边答辩边打开原型/后台，让评委“看得见、点得动”。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11 · 效果验证（高分亮点）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实践效果对比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38404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DF3DF"/>
          </a:solidFill>
          <a:ln w="9525">
            <a:solidFill>
              <a:srgbClr val="F5B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 i="0">
                <a:solidFill>
                  <a:srgbClr val="8A5A00"/>
                </a:solidFill>
                <a:latin typeface="微软雅黑"/>
                <a:ea typeface="微软雅黑"/>
                <a:cs typeface="微软雅黑"/>
              </a:rPr>
              <a:t>★ 亮点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371600"/>
            <a:ext cx="4709160" cy="21488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2700">
            <a:solidFill>
              <a:srgbClr val="E8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1790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04B4B"/>
                </a:solidFill>
                <a:latin typeface="微软雅黑"/>
                <a:ea typeface="微软雅黑"/>
                <a:cs typeface="微软雅黑"/>
              </a:rPr>
              <a:t>实践前 · 风险盲区（基线）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29967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不知道风险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029967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E04B4B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87168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不知道证据留存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8716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E04B4B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44368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不了解维权渠道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4436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E04B4B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49039"/>
            <a:ext cx="4709160" cy="2148840"/>
          </a:xfrm>
          <a:prstGeom prst="roundRect">
            <a:avLst>
              <a:gd name="adj" fmla="val 8000"/>
            </a:avLst>
          </a:prstGeom>
          <a:solidFill>
            <a:srgbClr val="E7F6F0"/>
          </a:solidFill>
          <a:ln w="12700">
            <a:solidFill>
              <a:srgbClr val="9F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9534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8A60"/>
                </a:solidFill>
                <a:latin typeface="微软雅黑"/>
                <a:ea typeface="微软雅黑"/>
                <a:cs typeface="微软雅黑"/>
              </a:rPr>
              <a:t>实践后 · 能力提升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07408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风险识别能力提升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4074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1E8A60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64608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证据留存意识提升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8646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1E8A60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21808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维权路径认知提升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3218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1E8A60"/>
                </a:solidFill>
                <a:latin typeface="微软雅黑"/>
                <a:ea typeface="微软雅黑"/>
                <a:cs typeface="微软雅黑"/>
              </a:rPr>
              <a:t>【XXX】%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1371600"/>
            <a:ext cx="566928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实践前后能力对比（示意图，双击图表改数据）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080759" y="2057400"/>
          <a:ext cx="502920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035040" y="4983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AA7B8"/>
                </a:solidFill>
                <a:latin typeface="微软雅黑"/>
                <a:ea typeface="微软雅黑"/>
                <a:cs typeface="微软雅黑"/>
              </a:rPr>
              <a:t>※ 柱状图为原生图表：双击 → “编辑数据”填入实测值；“【XXX】%”文字请同步更新。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24688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289407"/>
            <a:ext cx="481888" cy="48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274320"/>
            <a:ext cx="9326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PART 12 · 从呈贡到全国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推广模式：分阶段落地路线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960120"/>
            <a:ext cx="502920" cy="36576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74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024128"/>
            <a:ext cx="11567160" cy="12801"/>
          </a:xfrm>
          <a:prstGeom prst="rect">
            <a:avLst/>
          </a:prstGeom>
          <a:solidFill>
            <a:srgbClr val="D7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01951" y="1508760"/>
            <a:ext cx="365760" cy="365760"/>
          </a:xfrm>
          <a:prstGeom prst="ellipse">
            <a:avLst/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673352"/>
            <a:ext cx="2432304" cy="45720"/>
          </a:xfrm>
          <a:prstGeom prst="rect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0016" y="1508760"/>
            <a:ext cx="365760" cy="365760"/>
          </a:xfrm>
          <a:prstGeom prst="ellipse">
            <a:avLst/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1673352"/>
            <a:ext cx="2432304" cy="45720"/>
          </a:xfrm>
          <a:prstGeom prst="rect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0" y="1508760"/>
            <a:ext cx="365760" cy="365760"/>
          </a:xfrm>
          <a:prstGeom prst="ellipse">
            <a:avLst/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8" y="1673352"/>
            <a:ext cx="2432304" cy="45720"/>
          </a:xfrm>
          <a:prstGeom prst="rect">
            <a:avLst/>
          </a:prstGeom>
          <a:solidFill>
            <a:srgbClr val="AFC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96144" y="1508760"/>
            <a:ext cx="365760" cy="365760"/>
          </a:xfrm>
          <a:prstGeom prst="ellipse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057400"/>
            <a:ext cx="261518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057400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14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13969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06040"/>
            <a:ext cx="22494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呈贡大学城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4930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试点打磨，跑通“AI + 多方协同”服务闭环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75304" y="2057400"/>
            <a:ext cx="261518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75304" y="2057400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2E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2464" y="213969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8184" y="2606040"/>
            <a:ext cx="22494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昆明市内高校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34930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复制推广，覆盖在昆高校学生群体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3368" y="2057400"/>
            <a:ext cx="261518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73368" y="2057400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0B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13969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第三阶段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2606040"/>
            <a:ext cx="22494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云南省全部高校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34930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全省铺开，按本地法律资源完成配置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71432" y="2057400"/>
            <a:ext cx="2615184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71432" y="2057400"/>
            <a:ext cx="2615184" cy="384048"/>
          </a:xfrm>
          <a:prstGeom prst="roundRect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213969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第四阶段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1" y="2606040"/>
            <a:ext cx="22494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50" b="1" i="0">
                <a:solidFill>
                  <a:srgbClr val="0B2545"/>
                </a:solidFill>
                <a:latin typeface="微软雅黑"/>
                <a:ea typeface="微软雅黑"/>
                <a:cs typeface="微软雅黑"/>
              </a:rPr>
              <a:t>面向全国高校推广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4930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输出模式，适配各地法律服务资源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892040"/>
            <a:ext cx="10652760" cy="82296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54864" tIns="18288" bIns="18288"/>
          <a:lstStyle/>
          <a:p>
            <a:pPr algn="l"/>
            <a:r>
              <a:rPr sz="14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💡 平台能力：</a:t>
            </a: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支持根据各地法律服务资源完成本地化配置 —— 换一座城，更新本地法规、机构与案例即可复用。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7AB8"/>
                </a:solidFill>
                <a:latin typeface="微软雅黑"/>
                <a:ea typeface="微软雅黑"/>
                <a:cs typeface="微软雅黑"/>
              </a:rPr>
              <a:t>“呈贡模式”可复制、可扩展：先在一个大学城跑通，再向全省、全国高校输出。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" y="6528816"/>
            <a:ext cx="7863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652881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E6E82"/>
                </a:solidFill>
                <a:latin typeface="微软雅黑"/>
                <a:ea typeface="微软雅黑"/>
                <a:cs typeface="微软雅黑"/>
              </a:rPr>
              <a:t>云南大学  |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43A6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480560"/>
            <a:ext cx="3840480" cy="3840480"/>
          </a:xfrm>
          <a:prstGeom prst="ellipse">
            <a:avLst/>
          </a:prstGeom>
          <a:solidFill>
            <a:srgbClr val="00A8E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65760"/>
            <a:ext cx="713232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y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" y="419252"/>
            <a:ext cx="606247" cy="6062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86000"/>
            <a:ext cx="10744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让AI懂法律，更让大学生懂得保护自己。</a:t>
            </a:r>
            <a:r>
              <a:rPr sz="4400" b="1" i="0">
                <a:solidFill>
                  <a:srgbClr val="F5B842"/>
                </a:solidFill>
                <a:latin typeface="微软雅黑"/>
                <a:ea typeface="微软雅黑"/>
                <a:cs typeface="微软雅黑"/>
              </a:rPr>
              <a:t>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611880"/>
            <a:ext cx="1371600" cy="54864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744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CFE0F5"/>
                </a:solidFill>
                <a:latin typeface="微软雅黑"/>
                <a:ea typeface="微软雅黑"/>
                <a:cs typeface="微软雅黑"/>
              </a:rPr>
              <a:t>法护启航 · AI赋能大学生全周期法律风险防护实践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4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9EB4D0"/>
                </a:solidFill>
                <a:latin typeface="微软雅黑"/>
                <a:ea typeface="微软雅黑"/>
                <a:cs typeface="微软雅黑"/>
              </a:rPr>
              <a:t>谢谢聆听 · 恳请各位评委老师批评指正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5806440"/>
            <a:ext cx="5029200" cy="566928"/>
          </a:xfrm>
          <a:prstGeom prst="roundRect">
            <a:avLst>
              <a:gd name="adj" fmla="val 50000"/>
            </a:avLst>
          </a:prstGeom>
          <a:solidFill>
            <a:srgbClr val="143A6B">
              <a:alpha val="70000"/>
            </a:srgbClr>
          </a:solidFill>
          <a:ln w="9525">
            <a:solidFill>
              <a:srgbClr val="3E6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团队名称：云南大学【XXX】大学生创新实践团队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